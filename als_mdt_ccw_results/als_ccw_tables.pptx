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Table 1 - Baseline</a:t>
            </a:r>
          </a:p>
        </p:txBody>
      </p:sp>
      <p:graphicFrame>
        <p:nvGraphicFramePr>
          <p:cNvPr id="3" name="Content Placeholder 2"/>
          <p:cNvGraphicFramePr>
            <a:graphicFrameLocks noGrp="true"/>
          </p:cNvGraphicFramePr>
          <p:nvPr/>
        </p:nvGraphicFramePr>
        <p:xfrm rot="0">
          <a:off x="457200" y="1600200"/>
          <a:ext cx="8229600" cy="4525963"/>
        </p:xfrm>
        <a:graphic>
          <a:graphicData uri="http://schemas.openxmlformats.org/drawingml/2006/table">
            <a:tbl>
              <a:tblPr/>
              <a:tblGrid>
                <a:gridCol w="5153062"/>
                <a:gridCol w="1713935"/>
                <a:gridCol w="1713935"/>
                <a:gridCol w="1713935"/>
                <a:gridCol w="850828"/>
              </a:tblGrid>
              <a:tr h="400685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 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Vital status at end of follow-up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Vital status at end of follow-up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Vital status at end of follow-up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 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98805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Characteristic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Overall</a:t>
                      </a: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  </a:t>
                      </a:r>
                      <a:b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 = 4,448</a:t>
                      </a:r>
                      <a:r>
                        <a:rPr cap="none" sz="1300" i="0" b="1" u="none" strike="noStrike" baseline="40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Died</a:t>
                      </a: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  </a:t>
                      </a:r>
                      <a:b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 = 2,272</a:t>
                      </a:r>
                      <a:r>
                        <a:rPr cap="none" sz="1300" i="0" b="1" u="none" strike="noStrike" baseline="40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Alive / censored</a:t>
                      </a: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  </a:t>
                      </a:r>
                      <a:b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 = 2,176</a:t>
                      </a:r>
                      <a:r>
                        <a:rPr cap="none" sz="1300" i="0" b="1" u="none" strike="noStrike" baseline="40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p-value</a:t>
                      </a:r>
                      <a:r>
                        <a:rPr cap="none" sz="1300" i="0" b="1" u="none" strike="noStrike" baseline="40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Age at ALS diagnosis, years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67.0 (58.0, 73.0)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67.0 (59.0, 74.0)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66.0 (57.0, 72.0)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&lt;0.001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Age group, years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&lt;0.001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&lt;55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828 (19%)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362 (16%)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466 (21%)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55-64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1,214 (27%)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616 (27%)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598 (27%)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65-74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1,635 (37%)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839 (37%)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796 (37%)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75+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771 (17%)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455 (20%)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316 (15%)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Sex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0.044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1,996 (45%)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1,053 (46%)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943 (43%)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2,452 (55%)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1,219 (54%)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1,233 (57%)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Race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aian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 (0.2%)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 (0.1%)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 (0.3%)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asian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49 (1.1%)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 (0.7%)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 (1.5%)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black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179 (4.0%)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86 (3.8%)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 (4.3%)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multi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 (0.2%)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 (0.2%)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 (0.3%)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nhpi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 (&lt;0.1%)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(&lt;0.1%)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(&lt;0.1%)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NI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436 (9.8%)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140 (6.2%)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296 (14%)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white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3,762 (85%)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2,021 (89%)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1,741 (80%)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Hispanic ethnicity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&lt;0.001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hispanic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185 (4.2%)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69 (3.0%)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116 (5.3%)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NI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443 (10.0%)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148 (6.5%)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295 (14%)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non-hispanic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3,820 (86%)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2,055 (90%)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1,765 (81%)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Bmi Bmi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26.0 (23.0, 30.0)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26.0 (23.0, 30.0)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27.0 (24.0, 30.0)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2,376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1,182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1,194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Cbc Basophils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 (0.0, 0.0)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 (0.0, 0.0)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 (0.0, 0.0)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3,615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1,800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1,815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Cbc Eosinophils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 (0.0, 0.0)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 (0.0, 0.0)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 (0.0, 0.0)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0.021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3,661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1,817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1,844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Cbc Erythrocyte Distribution Width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14.0 (13.0, 15.0)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13.0 (13.0, 14.0)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14.0 (13.0, 15.0)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0.025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3,649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1,805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1,844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Cbc Erythrocyte Mean Corpuscular Hemoglobin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31.0 (30.0, 32.0)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31.0 (30.0, 32.0)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31.0 (30.0, 32.0)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&gt;0.9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3,712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1,856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1,856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Cbc Erythrocyte Mean Corpuscular Hemoglobin Concentration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29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 (0.4%)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 (0%)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 (0.8%)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30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 (0.9%)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 (0.6%)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 (1.4%)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31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34 (4.0%)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 (3.9%)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 (4.1%)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32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119 (14%)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73 (15%)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46 (13%)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272 (32%)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163 (33%)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109 (30%)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34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284 (33%)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150 (31%)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134 (36%)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35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113 (13%)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64 (13%)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49 (13%)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36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 (2.2%)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 (2.9%)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 (1.4%)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37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 (0.4%)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(0.2%)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 (0.5%)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3,593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1,785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1,808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Cbc Erythrocyte Mean Corpuscular Volume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91.0 (89.0, 94.0)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92.0 (88.0, 95.0)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91.0 (89.0, 94.0)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3,639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1,805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1,834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Cbc Erythrocytes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 (0.4%)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(0.2%)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 (0.6%)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31 (4.0%)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 (3.5%)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 (4.6%)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302 (39%)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178 (39%)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124 (38%)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410 (53%)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235 (52%)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175 (54%)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 (4.2%)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 (4.9%)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 (3.4%)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3,669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1,820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1,849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Cbc Hematocrit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42.0 (39.0, 45.0)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42.0 (39.0, 45.0)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42.0 (38.0, 45.0)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3,751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1,887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1,864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Cbc Hemoglobin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14.0 (13.0, 15.0)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14.0 (13.0, 15.0)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14.0 (13.0, 15.0)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&gt;0.9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3,348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1,622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1,726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Cbc Leukocytes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7.0 (6.0, 9.0)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7.0 (6.0, 8.0)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7.0 (6.0, 9.0)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3,738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1,833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1,905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Cbc Lymphocytes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2.0 (1.0, 2.0)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2.0 (1.0, 2.0)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2.0 (1.0, 2.0)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0.062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3,648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1,822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1,826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Cbc Monocytes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 (0.0, 1.0)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 (0.0, 1.0)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 (0.0, 1.0)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3,608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1,796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1,812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Cbc Neutrophils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5.0 (3.0, 6.0)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4.0 (3.0, 6.0)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5.0 (3.0, 6.0)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3,806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1,908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1,898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Cbc Platelet Mean Volume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 (0.3%)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(0.3%)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(0.4%)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 (3.8%)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 (4.0%)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 (3.4%)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82 (13%)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 (9.4%)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49 (19%)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138 (23%)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77 (22%)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61 (23%)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177 (29%)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92 (26%)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85 (33%)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137 (22%)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95 (27%)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42 (16%)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42 (6.9%)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32 (9.1%)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 (3.8%)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 (1.6%)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 (1.7%)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 (1.5%)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(0.2%)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(0.3%)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 (0%)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3,836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1,921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1,915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Cbc Platelets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234.0 (194.0, 276.5)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233.0 (189.0, 268.0)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238.0 (197.0, 287.0)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0.050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3,584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1,777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1,807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Metabolic Alanine Aminotransferase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24.0 (17.0, 34.0)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25.0 (17.0, 33.0)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24.0 (17.0, 35.0)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3,406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1,717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1,689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Metabolic Albumin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4.0 (4.0, 5.0)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4.0 (4.0, 5.0)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4.0 (4.0, 5.0)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0.002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3,475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1,727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1,748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Metabolic Alkaline Phosphatase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70.0 (58.0, 85.0)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70.0 (59.0, 85.0)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69.0 (58.0, 84.0)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3,347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1,659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1,688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Metabolic Aspartate Aminotransferase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25.0 (20.0, 32.0)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25.0 (20.0, 32.0)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26.0 (20.0, 33.0)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3,317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1,645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1,672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Metabolic Bilirubin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371 (34%)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204 (33%)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167 (34%)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688 (63%)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392 (64%)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296 (61%)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37 (3.4%)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 (2.6%)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 (4.3%)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(&lt;0.1%)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 (0%)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(0.2%)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(&lt;0.1%)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 (0%)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(0.2%)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3,350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1,660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1,690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Metabolic Calcium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 (0.2%)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(0.1%)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 (0.4%)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29 (2.4%)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 (2.4%)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 (2.3%)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540 (44%)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314 (45%)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226 (44%)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617 (51%)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351 (50%)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266 (52%)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 (2.1%)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 (2.7%)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 (1.4%)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(&lt;0.1%)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 (0%)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(0.2%)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3,232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1,570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1,662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Metabolic Carbon Dioxide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26.0 (24.0, 28.0)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26.0 (24.0, 28.0)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26.0 (24.0, 28.0)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0.080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3,537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1,757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1,780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Metabolic Chloride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103.0 (101.0, 106.0)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103.0 (101.0, 106.0)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103.0 (101.0, 106.0)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3,251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1,585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1,666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Metabolic Creatinine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57 (4.5%)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31 (4.2%)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 (4.8%)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1,175 (93%)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675 (92%)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500 (93%)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28 (2.2%)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 (2.9%)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 (1.3%)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 (0.5%)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 (0.5%)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 (0.4%)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(&lt;0.1%)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(0.1%)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 (0%)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(&lt;0.1%)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 (0%)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(0.2%)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102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(&lt;0.1%)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 (0%)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(0.2%)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3,179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1,540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1,639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Metabolic Glucose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100.0 (89.0, 113.0)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101.0 (91.0, 114.0)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98.0 (88.0, 111.0)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0.076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3,339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1,651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1,688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Metabolic Potassium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&gt;0.9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64 (5.4%)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37 (5.4%)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 (5.4%)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949 (80%)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545 (79%)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404 (80%)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174 (15%)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102 (15%)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72 (14%)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 (0.3%)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 (0.3%)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(0.2%)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3,258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1,586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1,672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Metabolic Protein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&gt;0.9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 (1.2%)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 (1.4%)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 (0.9%)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118 (9.2%)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61 (8.7%)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57 (9.8%)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750 (58%)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408 (58%)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342 (59%)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376 (29%)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208 (30%)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168 (29%)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 (1.7%)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 (1.6%)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 (1.9%)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 (0.2%)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(0.1%)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(0.2%)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3,165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1,573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1,592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Metabolic Sodium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140.0 (138.0, 141.0)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140.0 (138.0, 141.0)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139.0 (138.0, 141.0)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3,248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1,584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1,664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Metabolic Urea Nitrogen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16.0 (12.0, 20.0)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16.0 (13.0, 21.0)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15.0 (12.0, 19.0)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&lt;0.001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Missing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3,250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1,590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1,660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Sxmusclemovement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643 (14%)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333 (15%)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310 (14%)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Sxmuscleweakness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1,145 (26%)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574 (25%)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571 (26%)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Sxpainjointlimb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1,375 (31%)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730 (32%)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645 (30%)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0.073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Sxspeech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1,059 (24%)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573 (25%)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486 (22%)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0.024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Sxswallowing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1,012 (23%)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558 (25%)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454 (21%)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0.003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Sxwalking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1,180 (27%)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574 (25%)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606 (28%)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0.051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Riluzole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531 (12%)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238 (10%)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293 (13%)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0.002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Pbp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97 (2.2%)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54 (2.4%)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43 (2.0%)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Cbc Any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1,105 (25%)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652 (29%)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453 (21%)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&lt;0.001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Metabolic Any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1,519 (34%)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843 (37%)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676 (31%)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&lt;0.001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0685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Follow-up, years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 (0.7, 3.7)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 (0.7, 2.5)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 (0.7, 6.3)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&lt;0.001</a:t>
                      </a:r>
                    </a:p>
                  </a:txBody>
                  <a:tcPr anchor="t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 gridSpan="5"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 baseline="40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Median (IQR) for continuous variables; n (%) for categorical. One row per patient; status and follow-up from the un-censored reference arm.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 gridSpan="5"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 baseline="40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Wilcoxon rank sum test; Pearson's Chi-squared test; NA; Fisher's exact test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Cohort summary</a:t>
            </a:r>
          </a:p>
        </p:txBody>
      </p:sp>
      <p:graphicFrame>
        <p:nvGraphicFramePr>
          <p:cNvPr id="3" name="Content Placeholder 2"/>
          <p:cNvGraphicFramePr>
            <a:graphicFrameLocks noGrp="true"/>
          </p:cNvGraphicFramePr>
          <p:nvPr/>
        </p:nvGraphicFramePr>
        <p:xfrm rot="0">
          <a:off x="457200" y="1600200"/>
          <a:ext cx="8229600" cy="4525963"/>
        </p:xfrm>
        <a:graphic>
          <a:graphicData uri="http://schemas.openxmlformats.org/drawingml/2006/table">
            <a:tbl>
              <a:tblPr/>
              <a:tblGrid>
                <a:gridCol w="2961537"/>
                <a:gridCol w="1126250"/>
              </a:tblGrid>
              <a:tr h="41021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1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endParaRPr cap="none" sz="1300" i="0" b="1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Unique ALS patients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4,448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Strategy clones (A-H)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35,584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Person-period rows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439,801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Deaths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2,272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Died, %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51.1%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Person-years of follow-up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12,994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Median follow-up, years (IQR)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 (0.7-3.7)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0685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Median age at diagnosis, years (IQR)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 (58-73)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Adherence by strategy</a:t>
            </a:r>
          </a:p>
        </p:txBody>
      </p:sp>
      <p:graphicFrame>
        <p:nvGraphicFramePr>
          <p:cNvPr id="3" name="Content Placeholder 2"/>
          <p:cNvGraphicFramePr>
            <a:graphicFrameLocks noGrp="true"/>
          </p:cNvGraphicFramePr>
          <p:nvPr/>
        </p:nvGraphicFramePr>
        <p:xfrm rot="0">
          <a:off x="457200" y="1600200"/>
          <a:ext cx="8229600" cy="4525963"/>
        </p:xfrm>
        <a:graphic>
          <a:graphicData uri="http://schemas.openxmlformats.org/drawingml/2006/table">
            <a:tbl>
              <a:tblPr/>
              <a:tblGrid>
                <a:gridCol w="2690911"/>
                <a:gridCol w="960828"/>
                <a:gridCol w="1089248"/>
                <a:gridCol w="1080219"/>
              </a:tblGrid>
              <a:tr h="41021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Strategy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 eligible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 adherent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Adherence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Neurology-centered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3,605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3,605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100.0%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+ Rehab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3,605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1,141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31.7%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+ SLP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3,605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849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23.6%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+ Respiratory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3,605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451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12.5%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+ Rehab + SLP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3,605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629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17.4%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+ Rehab + Respiratory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3,605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253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7.0%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+ Rehab + SLP + Nutrition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3,605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140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3.9%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0685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+ Rehab + Respiratory + Nutrition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3,605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2.8%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2026-08-19T06:25:27Z</dcterms:modified>
  <cp:category/>
</cp:coreProperties>
</file>